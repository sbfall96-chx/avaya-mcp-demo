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DA291C"/>
                </a:solidFill>
                <a:latin typeface="Outfit"/>
              </a:defRPr>
            </a:pPr>
            <a:r>
              <a:t>AVAYA INFINITY</a:t>
            </a:r>
          </a:p>
          <a:p>
            <a:pPr>
              <a:spcBef>
                <a:spcPts val="800"/>
              </a:spcBef>
              <a:defRPr sz="2400">
                <a:solidFill>
                  <a:srgbClr val="F3F4F6"/>
                </a:solidFill>
                <a:latin typeface="Outfit"/>
              </a:defRPr>
            </a:pPr>
            <a:r>
              <a:t>Zero-Trust AI Connection Orchestration &amp; TCO Optimization</a:t>
            </a:r>
          </a:p>
          <a:p>
            <a:pPr>
              <a:spcBef>
                <a:spcPts val="3500"/>
              </a:spcBef>
              <a:defRPr sz="1400">
                <a:solidFill>
                  <a:srgbClr val="9CA3AF"/>
                </a:solidFill>
                <a:latin typeface="Outfit"/>
              </a:defRPr>
            </a:pPr>
            <a:r>
              <a:t>Sales Leadership &amp; Solution Architect Pitch Deck</a:t>
            </a:r>
            <a:br/>
            <a:r>
              <a:t>Standardizing Enterprise AI Bus (MCP) &amp; Databricks Governance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The Legacy Challenge: Spaghetti Integrations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Direct Connections Scale Badly (N x M Custom Connector Mess)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Direct Point-to-Point Pipeline Pain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300">
                <a:solidFill>
                  <a:srgbClr val="9CA3AF"/>
                </a:solidFill>
                <a:latin typeface="Outfit"/>
              </a:defRPr>
            </a:pPr>
            <a:r>
              <a:t>• Custom Glue Code: Every database requires bespoke API adapters and custom schemas parsed separately for each model type.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300">
                <a:solidFill>
                  <a:srgbClr val="9CA3AF"/>
                </a:solidFill>
                <a:latin typeface="Outfit"/>
              </a:defRPr>
            </a:pPr>
            <a:r>
              <a:t>• Hardcoded Credentials: Static tokens and credentials scattered across individual servers, raising security vulnerabilities.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300">
                <a:solidFill>
                  <a:srgbClr val="9CA3AF"/>
                </a:solidFill>
                <a:latin typeface="Outfit"/>
              </a:defRPr>
            </a:pPr>
            <a:r>
              <a:t>• Audit Nightmare: Security teams must verify role permissions at every endpoint separately, slowing compliance times.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300">
                <a:solidFill>
                  <a:srgbClr val="9CA3AF"/>
                </a:solidFill>
                <a:latin typeface="Outfit"/>
              </a:defRPr>
            </a:pPr>
            <a:r>
              <a:t>• Friction-heavy Updates: Changing database schema triggers cascading code rewrites across the entire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DA291C"/>
                </a:solidFill>
                <a:latin typeface="Outfit"/>
              </a:defRPr>
            </a:pPr>
            <a:r>
              <a:t>Business Outcomes &amp; Cost Drivers</a:t>
            </a:r>
          </a:p>
          <a:p>
            <a:pPr>
              <a:spcBef>
                <a:spcPts val="1400"/>
              </a:spcBef>
              <a:defRPr b="1" sz="1400">
                <a:solidFill>
                  <a:srgbClr val="F59E0B"/>
                </a:solidFill>
                <a:latin typeface="Outfit"/>
              </a:defRPr>
            </a:pPr>
            <a:r>
              <a:t>TCO Integration Overhead: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~ $150,000 / year in engineering maintenance.</a:t>
            </a:r>
          </a:p>
          <a:p>
            <a:pPr>
              <a:spcBef>
                <a:spcPts val="1400"/>
              </a:spcBef>
              <a:defRPr b="1" sz="1400">
                <a:solidFill>
                  <a:srgbClr val="F59E0B"/>
                </a:solidFill>
                <a:latin typeface="Outfit"/>
              </a:defRPr>
            </a:pPr>
            <a:r>
              <a:t>Agility Deployment Speed: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4 Months per new enterprise data source.</a:t>
            </a:r>
          </a:p>
          <a:p>
            <a:pPr>
              <a:spcBef>
                <a:spcPts val="1400"/>
              </a:spcBef>
              <a:defRPr b="1" sz="1400">
                <a:solidFill>
                  <a:srgbClr val="F59E0B"/>
                </a:solidFill>
                <a:latin typeface="Outfit"/>
              </a:defRPr>
            </a:pPr>
            <a:r>
              <a:t>Governance Policy Rating: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High Risk. Redaction is ad-hoc, and LLMs read database schemas directly without strict RBAC gatekeeping.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The Solution: Avaya Infinity MCP Bus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Unified Connection Gateway (N + M Plug-and-Play Standardization)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Universal Connection Standards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The 'USB-C for AI': Standardized Model Context Protocol client-server architecture eliminates point-to-point custom wrappers.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Dynamic Discovery: Secure MCP Gateway automatically queries registered silos (Postgres, CRM, SharePoint) to expose resources, tools, and prompt structures on-the-fly.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Separation of Concerns: Data repositories declare query scopes; LLMs consume clean APIs without direct table credentials.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Multi-Brain Swap: Swap underlying AI brains (Gemini, Claude, GPT) instantly without refactoring data layer connectors.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0B981"/>
                </a:solidFill>
                <a:latin typeface="Outfit"/>
              </a:defRPr>
            </a:pPr>
            <a:r>
              <a:t>Unified Sales Outcome Benefits</a:t>
            </a:r>
          </a:p>
          <a:p>
            <a:pPr>
              <a:spcBef>
                <a:spcPts val="1400"/>
              </a:spcBef>
              <a:defRPr b="1" sz="1400">
                <a:solidFill>
                  <a:srgbClr val="10B981"/>
                </a:solidFill>
                <a:latin typeface="Outfit"/>
              </a:defRPr>
            </a:pPr>
            <a:r>
              <a:t>TCO Integration Cost: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$15,000 / year (90% savings over custom code).</a:t>
            </a:r>
          </a:p>
          <a:p>
            <a:pPr>
              <a:spcBef>
                <a:spcPts val="1400"/>
              </a:spcBef>
              <a:defRPr b="1" sz="1400">
                <a:solidFill>
                  <a:srgbClr val="10B981"/>
                </a:solidFill>
                <a:latin typeface="Outfit"/>
              </a:defRPr>
            </a:pPr>
            <a:r>
              <a:t>Agility Deployment Speed: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2 Hours. Fast plug-and-play capability to connect database nodes.</a:t>
            </a:r>
          </a:p>
          <a:p>
            <a:pPr>
              <a:spcBef>
                <a:spcPts val="1400"/>
              </a:spcBef>
              <a:defRPr b="1" sz="1400">
                <a:solidFill>
                  <a:srgbClr val="10B981"/>
                </a:solidFill>
                <a:latin typeface="Outfit"/>
              </a:defRPr>
            </a:pPr>
            <a:r>
              <a:t>Governance Policy Rating:</a:t>
            </a:r>
          </a:p>
          <a:p>
            <a:pPr>
              <a:defRPr sz="1300">
                <a:solidFill>
                  <a:srgbClr val="9CA3AF"/>
                </a:solidFill>
                <a:latin typeface="Outfit"/>
              </a:defRPr>
            </a:pPr>
            <a:r>
              <a:t> Secure &amp; Compliant. Low threat footprint; centralized RBAC policies protect underlying data layers.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Zero-Trust Governance: Databricks Unity Catalog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Centralized Access Guardrails, Privacy Controls, and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Centralized Compliance Enforcements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PII HIPAA Redaction: Central parser intercepts prompts and results to mask patient/customer names (e.g. Jeff Edwards -&gt; J*** E******).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Restricted DB Access (RBAC): Automatically blocks raw tool calls to protected tables with a 403 authorization error.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Live Audit Trail: Every LLM query, database invocation, and security exception is logged instantly to Databricks Audit tables.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Zero-Copy Architecture: Models query databases in-place; no separate copies of client contact history stored on external disks.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Compliance Metrics Dashboard</a:t>
            </a:r>
          </a:p>
          <a:p>
            <a:pPr>
              <a:spcBef>
                <a:spcPts val="1200"/>
              </a:spcBef>
              <a:defRPr sz="1300">
                <a:solidFill>
                  <a:srgbClr val="F3F4F6"/>
                </a:solidFill>
                <a:latin typeface="Outfit"/>
              </a:defRPr>
            </a:pPr>
            <a:r>
              <a:t>✔ PII Masked Count: Baseline 24 names auto-redacted in active simulation runs.</a:t>
            </a:r>
          </a:p>
          <a:p>
            <a:pPr>
              <a:spcBef>
                <a:spcPts val="1200"/>
              </a:spcBef>
              <a:defRPr sz="1300">
                <a:solidFill>
                  <a:srgbClr val="F3F4F6"/>
                </a:solidFill>
                <a:latin typeface="Outfit"/>
              </a:defRPr>
            </a:pPr>
            <a:r>
              <a:t>✔ Blocks Enforced: Real-time prevention of access violations (preventing data leaks in tool execution).</a:t>
            </a:r>
          </a:p>
          <a:p>
            <a:pPr>
              <a:spcBef>
                <a:spcPts val="1200"/>
              </a:spcBef>
              <a:defRPr sz="1300">
                <a:solidFill>
                  <a:srgbClr val="F3F4F6"/>
                </a:solidFill>
                <a:latin typeface="Outfit"/>
              </a:defRPr>
            </a:pPr>
            <a:r>
              <a:t>✔ SLA Health Status: 100% compliance SLA verified by Databricks logging dashboard.</a:t>
            </a:r>
          </a:p>
          <a:p>
            <a:pPr>
              <a:spcBef>
                <a:spcPts val="1200"/>
              </a:spcBef>
              <a:defRPr sz="1300">
                <a:solidFill>
                  <a:srgbClr val="F3F4F6"/>
                </a:solidFill>
                <a:latin typeface="Outfit"/>
              </a:defRPr>
            </a:pPr>
            <a:r>
              <a:t>✔ Audit Coverage: 100% of data pipeline logs monitored and archived for HIPAA/GDPR reviews.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Real-World Scenarios &amp; Business ROI Outcomes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Quantifying Financial Value in Contact Center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F0FF"/>
                </a:solidFill>
                <a:latin typeface="Outfit"/>
              </a:defRPr>
            </a:pPr>
            <a:r>
              <a:t>1. Queue Recovery Spike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Scenario: Mandatory team training triggers sudden queue wait time spikes.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AI Resolution: Aura AI scans agent timetables, blocks concurrent breaks, and diverts incoming chats to self-service lanes.</a:t>
            </a:r>
          </a:p>
          <a:p>
            <a:pPr>
              <a:spcBef>
                <a:spcPts val="600"/>
              </a:spcBef>
              <a:defRPr b="1" sz="1150">
                <a:solidFill>
                  <a:srgbClr val="10B981"/>
                </a:solidFill>
                <a:latin typeface="Outfit"/>
              </a:defRPr>
            </a:pPr>
            <a:r>
              <a:t>Business Outcome: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Restored wait time from 185s to 15s. Prevented $3,200/day in SLA compliance fines.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F0FF"/>
                </a:solidFill>
                <a:latin typeface="Outfit"/>
              </a:defRPr>
            </a:pPr>
            <a:r>
              <a:t>2. VIP Priority Routing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Scenario: SIP trunk voice jitter spikes for active enterprise accounts.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AI Resolution: Tandem Care triggers L3 priority escalation checkpoint requiring supervisor approval.</a:t>
            </a:r>
          </a:p>
          <a:p>
            <a:pPr>
              <a:spcBef>
                <a:spcPts val="600"/>
              </a:spcBef>
              <a:defRPr b="1" sz="1150">
                <a:solidFill>
                  <a:srgbClr val="10B981"/>
                </a:solidFill>
                <a:latin typeface="Outfit"/>
              </a:defRPr>
            </a:pPr>
            <a:r>
              <a:t>Business Outcome: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Rerouted VIP calls in 10s. Retained $24,000 in VIP account contract ARR and secured 100% CSAT.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F0FF"/>
                </a:solidFill>
                <a:latin typeface="Outfit"/>
              </a:defRPr>
            </a:pPr>
            <a:r>
              <a:t>3. Churn Prevention ROI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Scenario: Customer threatens cancellation due to pricing issues.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AI Resolution: Queries SharePoint KB policies, calculates maximum authorized credit structure, logs coupon trace.</a:t>
            </a:r>
          </a:p>
          <a:p>
            <a:pPr>
              <a:spcBef>
                <a:spcPts val="600"/>
              </a:spcBef>
              <a:defRPr b="1" sz="1150">
                <a:solidFill>
                  <a:srgbClr val="10B981"/>
                </a:solidFill>
                <a:latin typeface="Outfit"/>
              </a:defRPr>
            </a:pPr>
            <a:r>
              <a:t>Business Outcome:</a:t>
            </a:r>
          </a:p>
          <a:p>
            <a:pPr>
              <a:spcBef>
                <a:spcPts val="600"/>
              </a:spcBef>
              <a:defRPr sz="1150">
                <a:solidFill>
                  <a:srgbClr val="9CA3AF"/>
                </a:solidFill>
                <a:latin typeface="Outfit"/>
              </a:defRPr>
            </a:pPr>
            <a:r>
              <a:t>Authorized $1,260 retention credit, saving $8,400 contract value. Achieved 6.6x ROI on CAC.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