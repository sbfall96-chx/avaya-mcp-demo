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600">
                <a:solidFill>
                  <a:srgbClr val="DA291C"/>
                </a:solidFill>
                <a:latin typeface="Outfit"/>
              </a:defRPr>
            </a:pPr>
            <a:r>
              <a:t>AVAYA INFINITY MCP CONSOLE</a:t>
            </a:r>
          </a:p>
          <a:p>
            <a:pPr>
              <a:spcBef>
                <a:spcPts val="800"/>
              </a:spcBef>
              <a:defRPr sz="2200">
                <a:solidFill>
                  <a:srgbClr val="F3F4F6"/>
                </a:solidFill>
                <a:latin typeface="Outfit"/>
              </a:defRPr>
            </a:pPr>
            <a:r>
              <a:t>Solutions Consultant Technical Demo &amp; Presentation</a:t>
            </a:r>
          </a:p>
          <a:p>
            <a:pPr>
              <a:spcBef>
                <a:spcPts val="3000"/>
              </a:spcBef>
              <a:defRPr sz="1500">
                <a:solidFill>
                  <a:srgbClr val="9CA3AF"/>
                </a:solidFill>
                <a:latin typeface="Outfit"/>
              </a:defRPr>
            </a:pPr>
            <a:r>
              <a:t>A technical deep-dive into why I built this application, what it shows under the hood,</a:t>
            </a:r>
            <a:br/>
            <a:r>
              <a:t>and how it directly demonstrates the business value of Avaya's actual Infinity roadmap.</a:t>
            </a:r>
          </a:p>
          <a:p>
            <a:pPr>
              <a:spcBef>
                <a:spcPts val="4000"/>
              </a:spcBef>
              <a:defRPr b="1" sz="1400">
                <a:solidFill>
                  <a:srgbClr val="00F0FF"/>
                </a:solidFill>
                <a:latin typeface="Outfit"/>
              </a:defRPr>
            </a:pPr>
            <a:r>
              <a:t>Presented by: Solutions Consultant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3F4F6"/>
                </a:solidFill>
                <a:latin typeface="Outfit"/>
              </a:defRPr>
            </a:pPr>
            <a:r>
              <a:t>Why I Built This Application: SC Perspective</a:t>
            </a:r>
          </a:p>
          <a:p>
            <a:pPr>
              <a:spcBef>
                <a:spcPts val="400"/>
              </a:spcBef>
              <a:defRPr sz="1400">
                <a:solidFill>
                  <a:srgbClr val="00F0FF"/>
                </a:solidFill>
                <a:latin typeface="Outfit"/>
              </a:defRPr>
            </a:pPr>
            <a:r>
              <a:t>Bridging Abstract Architecture with Quantifiable C-Suite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3F4F6"/>
                </a:solidFill>
                <a:latin typeface="Outfit"/>
              </a:defRPr>
            </a:pPr>
            <a:r>
              <a:t>The Engineering &amp; Demo Imperative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To 'Show, Not Just Tell': Standardized protocol frameworks like Model Context Protocol (MCP) and Lakehouses are abstract concepts. I built this console to make them visual, interactive, and immediately understandable to C-level buyers.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Sales Enablement Focused: Created a client-ready playground that functions offline (perfect for situations with spotty network coverage) or connects directly to live AI APIs for real tool-calling validation.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Realistic Scenario Sandbox: Includes pre-configured incident presets (wait-time spikes, churn escalations) that sales engineering teams can run in real-time to walk clients through day-in-the-life contact center challenges.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0FF"/>
                </a:solidFill>
                <a:latin typeface="Outfit"/>
              </a:defRPr>
            </a:pPr>
            <a:r>
              <a:t>Interview Alignment &amp; Technical Rigor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Demonstrating SC Competencies: Proves my ability to architect a full-stack dashboard, model complex database nodes, implement visual analytics (Chart.js), and code responsive CSS layouts.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Strategic Solution Strategy: Directly showcases my grasp of Avaya's product portfolio—highlighting the value proposition of AXP cloud telemetry and ACM core media layers.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Interactive Value Pitch: Designed specifically to address Carlos and other sales leaders' target needs—focusing on ROI calculators, compliance controls, and SLA penalty mitigations.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3F4F6"/>
                </a:solidFill>
                <a:latin typeface="Outfit"/>
              </a:defRPr>
            </a:pPr>
            <a:r>
              <a:t>What the Application Actually Shows</a:t>
            </a:r>
          </a:p>
          <a:p>
            <a:pPr>
              <a:spcBef>
                <a:spcPts val="400"/>
              </a:spcBef>
              <a:defRPr sz="1400">
                <a:solidFill>
                  <a:srgbClr val="00F0FF"/>
                </a:solidFill>
                <a:latin typeface="Outfit"/>
              </a:defRPr>
            </a:pPr>
            <a:r>
              <a:t>An Interactive Guided Tour of the Core Modules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F0FF"/>
                </a:solidFill>
                <a:latin typeface="Outfit"/>
              </a:defRPr>
            </a:pPr>
            <a:r>
              <a:t>1. Live Protocol Trace (The 'How')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Outfit"/>
              </a:defRPr>
            </a:pPr>
            <a:r>
              <a:t>Provides step-by-step transparency. It captures raw JSON inputs, tool schemas, and output payloads exchanged between the model client and MCP database servers, demystifying AI decision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59E0B"/>
                </a:solidFill>
                <a:latin typeface="Outfit"/>
              </a:defRPr>
            </a:pPr>
            <a:r>
              <a:t>2. Unified Lakehouse &amp; Silos (The 'What')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Outfit"/>
              </a:defRPr>
            </a:pPr>
            <a:r>
              <a:t>Visualizes simulated CRM profiles, SQL database logs, and SharePoint Knowledge Base tables. Proves that models can retrieve siloed customer data without copying or duplicating data repositories.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  <a:latin typeface="Outfit"/>
              </a:defRPr>
            </a:pPr>
            <a:r>
              <a:t>3. Interactive Network Playground (The 'Why')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Outfit"/>
              </a:defRPr>
            </a:pPr>
            <a:r>
              <a:t>Animates active connection lines and flowing data packets. Instantly models legacy integration mess (N x M spaghetti) vs the clean unified bus (N + M MCP) and Edify policy routing layouts.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DA291C"/>
                </a:solidFill>
                <a:latin typeface="Outfit"/>
              </a:defRPr>
            </a:pPr>
            <a:r>
              <a:t>4. Databricks Governance Log (The 'Security')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Outfit"/>
              </a:defRPr>
            </a:pPr>
            <a:r>
              <a:t>Logs compliance activities in real-time. Highlights PII redactions, RBAC access blocks, and logs all gateway actions directly into Unity Catalog audit tables for total transparency.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3F4F6"/>
                </a:solidFill>
                <a:latin typeface="Outfit"/>
              </a:defRPr>
            </a:pPr>
            <a:r>
              <a:t>How It Represents Avaya's Actual Infinity</a:t>
            </a:r>
          </a:p>
          <a:p>
            <a:pPr>
              <a:spcBef>
                <a:spcPts val="400"/>
              </a:spcBef>
              <a:defRPr sz="1400">
                <a:solidFill>
                  <a:srgbClr val="00F0FF"/>
                </a:solidFill>
                <a:latin typeface="Outfit"/>
              </a:defRPr>
            </a:pPr>
            <a:r>
              <a:t>Translating Architecture Guidelines to Interactive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3F4F6"/>
                </a:solidFill>
                <a:latin typeface="Outfit"/>
              </a:defRPr>
            </a:pPr>
            <a:r>
              <a:t>Core Infrastructure Pillars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AI-Agnostic BYOAI Framework: In the UI, the operator can switch AI models seamlessly. This models Avaya's commitment to avoiding model lock-in, letting customers bring any LLM client to their data.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Zero-Copy Data Access: Under the hood, the console queries database tables dynamically via schema tool definitions. Data remains in-place, aligned with Avaya's zero-copy architecture roadmap.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Edify Journey Flowchart: An animated flowchart diagram mapping dynamic CX stream packet routes, illustrating how Avaya Infinity handles no-code policy orchestration.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0FF"/>
                </a:solidFill>
                <a:latin typeface="Outfit"/>
              </a:defRPr>
            </a:pPr>
            <a:r>
              <a:t>Operational Controls &amp; Telemetry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Tandem Care Checkpoint: Triggers a visual checkpoint requiring supervisor authorization for high-stakes actions, reflecting Avaya's human-in-the-loop safety roadmap.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Multi-Layer Telemetry Coexistence: Visualizes cloud events (AXP) and voice trunk parameters (ACM Jitter/Loss/MOS) side-by-side. Demonstrates Avaya's capability to bridge legacy telephony cores with cloud operations.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Databricks Unity Catalog Alignment: Incorporates PII HIPAA masking and RBAC query block triggers, proving enterprise-grade compliance safeguards.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3F4F6"/>
                </a:solidFill>
                <a:latin typeface="Outfit"/>
              </a:defRPr>
            </a:pPr>
            <a:r>
              <a:t>Detailed Walkthrough: Unified Lakehouse</a:t>
            </a:r>
          </a:p>
          <a:p>
            <a:pPr>
              <a:spcBef>
                <a:spcPts val="400"/>
              </a:spcBef>
              <a:defRPr sz="1400">
                <a:solidFill>
                  <a:srgbClr val="00F0FF"/>
                </a:solidFill>
                <a:latin typeface="Outfit"/>
              </a:defRPr>
            </a:pPr>
            <a:r>
              <a:t>Silo Consolidation &amp; Interactive Data Management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3F4F6"/>
                </a:solidFill>
                <a:latin typeface="Outfit"/>
              </a:defRPr>
            </a:pPr>
            <a:r>
              <a:t>Why Silos Are in the Console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Simulating Real-World Friction: Enterprises have customer history, ticket CRM data, and policies separated across different database platforms. This view shows them all in one place.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Zero-Copy Verification: Rather than migrating databases to the LLM, the model issues on-the-fly read queries to separate tables, illustrating zero-copy architectural advantages.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Interactive SharePoint Document Viewer: Users can select actual warranty, tax, or outage documents from a visual index table and immediately read the text clauses used by the AI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0FF"/>
                </a:solidFill>
                <a:latin typeface="Outfit"/>
              </a:defRPr>
            </a:pPr>
            <a:r>
              <a:t>Dynamic Data Silos Features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Unified Tables Index: Includes PostgreSQL Call Database, Salesforce/Zendesk CRM Records, and SharePoint Document Libraries.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Interactive Past Interactions Logger: Let's the presenter manually write and submit a supervisor log entry back to the customer's CRM history, showcasing active writebacks.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Dynamic Customer Seeding: Adding a new CRM customer profile automatically seeds historical interaction records based on account tiers (VIP vs Basic).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3F4F6"/>
                </a:solidFill>
                <a:latin typeface="Outfit"/>
              </a:defRPr>
            </a:pPr>
            <a:r>
              <a:t>Detailed Walkthrough: Security &amp; Governance</a:t>
            </a:r>
          </a:p>
          <a:p>
            <a:pPr>
              <a:spcBef>
                <a:spcPts val="400"/>
              </a:spcBef>
              <a:defRPr sz="1400">
                <a:solidFill>
                  <a:srgbClr val="00F0FF"/>
                </a:solidFill>
                <a:latin typeface="Outfit"/>
              </a:defRPr>
            </a:pPr>
            <a:r>
              <a:t>Centralized Policy Enforcement, HIPAA Protections, and Real-Time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3F4F6"/>
                </a:solidFill>
                <a:latin typeface="Outfit"/>
              </a:defRPr>
            </a:pPr>
            <a:r>
              <a:t>Governance Controls &amp; Enforcements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Dynamic PII Masking: Automatically redacts sensitive names (e.g. Jeff Edwards -&gt; J*** E******) in raw database tables, JSON parameters, trace payloads, and final chat outputs.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Centralized Proxy Redaction: Demonstrates that data is protected at the API proxy layer, eliminating the risk of LLM prompts leaking sensitive information.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Restricted DB Access Gatekeeping: Toggling the restriction blocks SQL execution instantly, demonstrating Unity Catalog role-based checks yielding 403 Access Denied messages in the trace.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0FF"/>
                </a:solidFill>
                <a:latin typeface="Outfit"/>
              </a:defRPr>
            </a:pPr>
            <a:r>
              <a:t>Governance Audit Dashboard Features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PII Masked Counter: Running tracker tallying every redaction event occurred in active simulation pipelines.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Blocked Requests Counter: Real-time count of blocked unauthorized calls, highlighting active security gatekeeping.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Compliance SLA Status Indicator: Automatically shows 100% SLA Health, which shifts dynamically if unauthorized query violations exceed safe operating boundaries.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Auditable Logs: Standardized log format matching Databricks catalog traces, making compliance checks simple.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3F4F6"/>
                </a:solidFill>
                <a:latin typeface="Outfit"/>
              </a:defRPr>
            </a:pPr>
            <a:r>
              <a:t>Proving the Business Outcome &amp; ROI Case</a:t>
            </a:r>
          </a:p>
          <a:p>
            <a:pPr>
              <a:spcBef>
                <a:spcPts val="400"/>
              </a:spcBef>
              <a:defRPr sz="1400">
                <a:solidFill>
                  <a:srgbClr val="00F0FF"/>
                </a:solidFill>
                <a:latin typeface="Outfit"/>
              </a:defRPr>
            </a:pPr>
            <a:r>
              <a:t>Translating Telemetry Metrics into Financial Outcomes for Sales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3F4F6"/>
                </a:solidFill>
                <a:latin typeface="Outfit"/>
              </a:defRPr>
            </a:pPr>
            <a:r>
              <a:t>The Architecture Playground ROI Calculator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Quantified Cost Reduction: Dynamic calculator card showing Legacy custom connectors ($150,000/yr TCO) vs Avaya Infinity MCP Bus ($15,000/yr TCO)—a 90% maintenance cost savings.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Agility Metric: Compares 4 months deployment cycles for point-to-point custom adapters against 2 hours for standardized MCP client-server registrations.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• Security Policy Scope: Measures the compliance exposure difference between Legacy (High Risk endpoint leaks) and Avaya Infinity (Protected unified gateway).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F0FF"/>
                </a:solidFill>
                <a:latin typeface="Outfit"/>
              </a:defRPr>
            </a:pPr>
            <a:r>
              <a:t>The Aura AI Business Outcome Banners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Queue Performance (Preset 1): Dynamic breakout rescheduling and automated chat diversions prevent $3,200/day in SLA fines.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Contract Security (Preset 2): Priority routing VIP callers during jitter spikes retains $24,000 in VIP account contract ARR.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✔ Revenue Retention (Preset 5): Leverages policy guidelines to authorize a $1,260 coupon discount to save an $8,400 churn contract, achieving 6.6x ROI on CAC.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3F4F6"/>
                </a:solidFill>
                <a:latin typeface="Outfit"/>
              </a:defRPr>
            </a:pPr>
            <a:r>
              <a:t>Summary: A Complete Sales Pitch Delivery</a:t>
            </a:r>
          </a:p>
          <a:p>
            <a:pPr>
              <a:spcBef>
                <a:spcPts val="400"/>
              </a:spcBef>
              <a:defRPr sz="1400">
                <a:solidFill>
                  <a:srgbClr val="00F0FF"/>
                </a:solidFill>
                <a:latin typeface="Outfit"/>
              </a:defRPr>
            </a:pPr>
            <a:r>
              <a:t>Aligning Customer Success, Security Compliance, and IT Budgets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F0FF"/>
                </a:solidFill>
                <a:latin typeface="Outfit"/>
              </a:defRPr>
            </a:pPr>
            <a:r>
              <a:t>Why I Am Prepared to Stand as an Avaya Solutions Consultant:</a:t>
            </a:r>
          </a:p>
          <a:p>
            <a:pPr>
              <a:spcBef>
                <a:spcPts val="1400"/>
              </a:spcBef>
              <a:defRPr sz="1450">
                <a:solidFill>
                  <a:srgbClr val="F3F4F6"/>
                </a:solidFill>
                <a:latin typeface="Outfit"/>
              </a:defRPr>
            </a:pPr>
            <a:r>
              <a:t>1. Ability to Simplify Complexity: Translated dry protocol specifications (MCP schemas, JSON payloads) into a high-fidelity visual experience that any buyer can easily understand.</a:t>
            </a:r>
          </a:p>
          <a:p>
            <a:pPr>
              <a:spcBef>
                <a:spcPts val="1400"/>
              </a:spcBef>
              <a:defRPr sz="1450">
                <a:solidFill>
                  <a:srgbClr val="F3F4F6"/>
                </a:solidFill>
                <a:latin typeface="Outfit"/>
              </a:defRPr>
            </a:pPr>
            <a:r>
              <a:t>2. Outcomes-Driven Demos: Put financial results and TCO metrics front and center, ensuring that the technology is directly coupled with the client's business goals ($ savings, SLA compliance, ARR retention).</a:t>
            </a:r>
          </a:p>
          <a:p>
            <a:pPr>
              <a:spcBef>
                <a:spcPts val="1400"/>
              </a:spcBef>
              <a:defRPr sz="1450">
                <a:solidFill>
                  <a:srgbClr val="F3F4F6"/>
                </a:solidFill>
                <a:latin typeface="Outfit"/>
              </a:defRPr>
            </a:pPr>
            <a:r>
              <a:t>3. Mastery of the Portfolio: Handcrafted an application representing Avaya's core architectural tenets—proving I have the technical depth to consult clients on actual roadmaps.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